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4"/>
  </p:notesMasterIdLst>
  <p:handoutMasterIdLst>
    <p:handoutMasterId r:id="rId25"/>
  </p:handoutMasterIdLst>
  <p:sldIdLst>
    <p:sldId id="1393" r:id="rId8"/>
    <p:sldId id="1781" r:id="rId9"/>
    <p:sldId id="1834" r:id="rId10"/>
    <p:sldId id="1801" r:id="rId11"/>
    <p:sldId id="1771" r:id="rId12"/>
    <p:sldId id="1752" r:id="rId13"/>
    <p:sldId id="1717" r:id="rId14"/>
    <p:sldId id="1708" r:id="rId15"/>
    <p:sldId id="1709" r:id="rId16"/>
    <p:sldId id="1841" r:id="rId17"/>
    <p:sldId id="1843" r:id="rId18"/>
    <p:sldId id="1754" r:id="rId19"/>
    <p:sldId id="1755" r:id="rId20"/>
    <p:sldId id="1844" r:id="rId21"/>
    <p:sldId id="1615" r:id="rId22"/>
    <p:sldId id="1845" r:id="rId23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781"/>
            <p14:sldId id="1834"/>
            <p14:sldId id="1801"/>
            <p14:sldId id="1771"/>
            <p14:sldId id="1752"/>
            <p14:sldId id="1717"/>
            <p14:sldId id="1708"/>
            <p14:sldId id="1709"/>
            <p14:sldId id="1841"/>
            <p14:sldId id="1843"/>
            <p14:sldId id="1754"/>
            <p14:sldId id="1755"/>
          </p14:sldIdLst>
        </p14:section>
        <p14:section name="Finalizando" id="{CF622469-3E87-46BA-8ED6-912C47B00EF3}">
          <p14:sldIdLst>
            <p14:sldId id="1844"/>
            <p14:sldId id="1615"/>
            <p14:sldId id="18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79472" autoAdjust="0"/>
  </p:normalViewPr>
  <p:slideViewPr>
    <p:cSldViewPr>
      <p:cViewPr varScale="1">
        <p:scale>
          <a:sx n="73" d="100"/>
          <a:sy n="73" d="100"/>
        </p:scale>
        <p:origin x="931" y="283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62" d="100"/>
          <a:sy n="62" d="100"/>
        </p:scale>
        <p:origin x="2405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4/18/2026 1:12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4/18/2026 1:12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2:25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2:32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2:26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22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1:12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67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1:12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963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1:12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60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1:38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46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C885-5DB2-3D0F-03A1-912E7BA7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180D208-72D5-10B4-55A0-1EE79F9F4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A8DA8C-853A-E218-5EFE-674130549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9713212-339F-A907-4EC5-3D51BF639C1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B25F94-26B2-2F34-2FA4-158C4CAF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206D14F-FB80-EF0B-A011-B2763A7B9F6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1:55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C1572C-F8BA-9203-0A20-D679BD5706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846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CEF8-D62D-880A-ACE0-9A715729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7D1024-2EB4-67C2-85F3-91B4F1D1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D57BFB-3A83-815D-E187-651A4F5DC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9507D45D-DF3E-6873-357F-250E476BBF8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8D1B05-E58F-FBFC-8F9B-3BF14AAA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D914BAA-9FFA-3D3E-C969-C7BE9B71C63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2:18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D67A16-8091-77A3-D785-9A3BA42D06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166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2:00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38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2:00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60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3EC-C68E-CF6E-2D24-B99668E2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BFA47A-F949-9B82-2B24-0DF97A472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05919A-8FFD-0A48-C216-3F424BB5A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E7F6C57B-F5EA-2678-F9B5-C16F8C48BC9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5509D9-8907-F842-134E-ABC40D5D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C39CBCB-6789-92F7-AFC5-CDE27503777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4/18/2026 2:33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94C9CB-5B1D-9096-228F-7DED9920D6A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280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 1:12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3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34ED-01D4-127B-29D9-29CF14C2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3C839-21A2-372F-0A3F-B69345245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61358-45C4-6E03-6908-7628D5E65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A482BD1-4208-3C8B-9F84-D0B7ED8719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112AC-0CD1-91DE-AB41-30119915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DB05D1-884F-DF94-35C8-E51DD7102FB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 2:34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2897F-CDE3-88EA-3F75-3994BE79BB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9560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eda.sh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449262"/>
            <a:ext cx="11201400" cy="1872045"/>
          </a:xfrm>
        </p:spPr>
        <p:txBody>
          <a:bodyPr/>
          <a:lstStyle/>
          <a:p>
            <a:r>
              <a:rPr lang="pt-BR" b="1" dirty="0"/>
              <a:t>Aplicações </a:t>
            </a:r>
            <a:r>
              <a:rPr lang="pt-BR" b="1" dirty="0" err="1"/>
              <a:t>containerizadas</a:t>
            </a:r>
            <a:r>
              <a:rPr lang="pt-BR" b="1" dirty="0"/>
              <a:t> no Azure</a:t>
            </a:r>
            <a:br>
              <a:rPr lang="pt-BR" b="1" dirty="0"/>
            </a:br>
            <a:r>
              <a:rPr lang="pt-BR" sz="4400" b="1" dirty="0"/>
              <a:t>AKS ou Container Apps, qual a melhor solução?</a:t>
            </a:r>
            <a:endParaRPr lang="pt-BR" sz="36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3814D94-6C3E-4E34-CFE5-E266E1D9D4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566003" y="2171143"/>
            <a:ext cx="1551503" cy="1457711"/>
          </a:xfrm>
          <a:prstGeom prst="rect">
            <a:avLst/>
          </a:prstGeom>
        </p:spPr>
      </p:pic>
      <p:pic>
        <p:nvPicPr>
          <p:cNvPr id="6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4EA98B2-385B-D759-C4FC-D4BA6F6F8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4B0B0919-2568-05C2-38F3-666497C9D3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10" name="Imagem 9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85A29F7A-A252-1160-780E-E33AC3E55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11" name="Imagem 10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3B2C445B-D7AC-3AB4-0D04-3C74894DE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791C4EF-5A7B-9D08-2189-C73F49E61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3" name="Imagem 12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1DA5C63A-2CDA-1552-BDDF-B1ABBB0A87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2F8B769-9F1D-7219-6CB0-73695B98BA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pic>
        <p:nvPicPr>
          <p:cNvPr id="19" name="Imagem 3">
            <a:extLst>
              <a:ext uri="{FF2B5EF4-FFF2-40B4-BE49-F238E27FC236}">
                <a16:creationId xmlns:a16="http://schemas.microsoft.com/office/drawing/2014/main" id="{854E5ECF-609D-602D-94DE-783139016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821213" y="3770922"/>
            <a:ext cx="1320809" cy="1320809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40A73E72-C975-37B9-B03A-0C42001FA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41755" y="3722990"/>
            <a:ext cx="1457711" cy="1457711"/>
          </a:xfrm>
          <a:prstGeom prst="rect">
            <a:avLst/>
          </a:prstGeom>
        </p:spPr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C7E7E03-4A07-E481-2035-92BD507FD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981" y="2963685"/>
            <a:ext cx="8003056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Champion,</a:t>
            </a:r>
            <a:br>
              <a:rPr lang="en-US" sz="2400" dirty="0"/>
            </a:br>
            <a:r>
              <a:rPr lang="en-US" sz="2400" dirty="0" err="1"/>
              <a:t>APIsec</a:t>
            </a:r>
            <a:r>
              <a:rPr lang="en-US" sz="2400" dirty="0"/>
              <a:t> U Ambassador,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170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github.com/</a:t>
            </a:r>
            <a:r>
              <a:rPr lang="pt-BR" sz="2400" b="1" dirty="0" err="1">
                <a:solidFill>
                  <a:schemeClr val="bg1"/>
                </a:solidFill>
              </a:rPr>
              <a:t>renatogroffe</a:t>
            </a:r>
            <a:r>
              <a:rPr lang="pt-BR" sz="2400" b="1" dirty="0">
                <a:solidFill>
                  <a:schemeClr val="bg1"/>
                </a:solidFill>
              </a:rPr>
              <a:t>/aks-container-apps_globalazure-piracicaba-2026</a:t>
            </a:r>
            <a:endParaRPr lang="pt-BR" sz="2000" b="1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6C5352-9F52-A15A-DBE7-2E1962123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5608637" y="4785618"/>
            <a:ext cx="1676400" cy="1575058"/>
          </a:xfrm>
          <a:prstGeom prst="rect">
            <a:avLst/>
          </a:prstGeom>
        </p:spPr>
      </p:pic>
      <p:pic>
        <p:nvPicPr>
          <p:cNvPr id="5" name="Imagem 3">
            <a:extLst>
              <a:ext uri="{FF2B5EF4-FFF2-40B4-BE49-F238E27FC236}">
                <a16:creationId xmlns:a16="http://schemas.microsoft.com/office/drawing/2014/main" id="{58A5D074-B9C2-E062-EAE6-BA3021914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19509" y="4831684"/>
            <a:ext cx="1482925" cy="148292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4FA0EF6F-D346-746F-19C4-5F4BE6221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6454" y="4792662"/>
            <a:ext cx="1457711" cy="145771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1E8DBBC-7BC4-999A-6302-0AE0C4CF3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621" y="1081196"/>
            <a:ext cx="2434431" cy="2434431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C8E91D02-D6A7-27F4-6840-1A2C387EF16C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77738"/>
            <a:ext cx="11810999" cy="279461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 err="1">
                <a:solidFill>
                  <a:srgbClr val="494949"/>
                </a:solidFill>
              </a:rPr>
              <a:t>Kubernetes</a:t>
            </a:r>
            <a:r>
              <a:rPr lang="pt-BR" sz="3200" dirty="0">
                <a:solidFill>
                  <a:srgbClr val="494949"/>
                </a:solidFill>
              </a:rPr>
              <a:t>: uma visão geral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Azure </a:t>
            </a:r>
            <a:r>
              <a:rPr lang="pt-BR" sz="3200" dirty="0" err="1">
                <a:solidFill>
                  <a:srgbClr val="494949"/>
                </a:solidFill>
              </a:rPr>
              <a:t>Kubernetes</a:t>
            </a:r>
            <a:r>
              <a:rPr lang="pt-BR" sz="3200" dirty="0">
                <a:solidFill>
                  <a:srgbClr val="494949"/>
                </a:solidFill>
              </a:rPr>
              <a:t> Service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Azure Container Apps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KEDA e Escalabilidade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7EF95B-1211-A1A8-8DC7-69E01E6F4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5608637" y="4785618"/>
            <a:ext cx="1676400" cy="1575058"/>
          </a:xfrm>
          <a:prstGeom prst="rect">
            <a:avLst/>
          </a:prstGeom>
        </p:spPr>
      </p:pic>
      <p:pic>
        <p:nvPicPr>
          <p:cNvPr id="7" name="Imagem 3">
            <a:extLst>
              <a:ext uri="{FF2B5EF4-FFF2-40B4-BE49-F238E27FC236}">
                <a16:creationId xmlns:a16="http://schemas.microsoft.com/office/drawing/2014/main" id="{3CC3FC86-D33F-5A21-901E-1D01D697D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19509" y="4831684"/>
            <a:ext cx="1482925" cy="14829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732730D8-DF35-A915-E83C-DCF957C8A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6454" y="4792662"/>
            <a:ext cx="1457711" cy="14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583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Como o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Kubernetes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pode ser útil?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8839199" cy="441967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Orquestração de containers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 err="1">
                <a:solidFill>
                  <a:srgbClr val="494949"/>
                </a:solidFill>
              </a:rPr>
              <a:t>Autoscaling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Mecanismos de Health </a:t>
            </a:r>
            <a:r>
              <a:rPr lang="pt-BR" sz="3200" dirty="0" err="1">
                <a:solidFill>
                  <a:srgbClr val="494949"/>
                </a:solidFill>
              </a:rPr>
              <a:t>Check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Robustez, resiliência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E8B6C46-7777-B053-6033-96AA3AF61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494837" y="2430462"/>
            <a:ext cx="2438400" cy="22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213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Azure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Kubernetes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Service (AKS)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8686799" cy="461664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Serviço gerenciado na nuvem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Alocação da infraestrutura necessária para criação dos nós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Facilidade no monitoramento e implementação de recursos de segurança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B830E27-EFB5-43AD-BAD6-A1FB48D3E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437" y="3954462"/>
            <a:ext cx="1869995" cy="186999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5CFC66B6-B4D2-AE3C-B2FD-E7FDF552F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5052" y="1605162"/>
            <a:ext cx="18383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4079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Clusters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Kubernetes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e complexidade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8839199" cy="422269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Conhecimentos avançados em </a:t>
            </a:r>
            <a:r>
              <a:rPr lang="pt-BR" sz="3200" b="1" dirty="0">
                <a:solidFill>
                  <a:srgbClr val="494949"/>
                </a:solidFill>
              </a:rPr>
              <a:t>segurança</a:t>
            </a:r>
            <a:r>
              <a:rPr lang="pt-BR" sz="3200" dirty="0">
                <a:solidFill>
                  <a:srgbClr val="494949"/>
                </a:solidFill>
              </a:rPr>
              <a:t> e </a:t>
            </a:r>
            <a:r>
              <a:rPr lang="pt-BR" sz="3200" b="1" dirty="0">
                <a:solidFill>
                  <a:srgbClr val="494949"/>
                </a:solidFill>
              </a:rPr>
              <a:t>infraestrutura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Monitoramento</a:t>
            </a:r>
            <a:r>
              <a:rPr lang="pt-BR" sz="3200" dirty="0">
                <a:solidFill>
                  <a:srgbClr val="494949"/>
                </a:solidFill>
              </a:rPr>
              <a:t> constante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Várias questões envolvendo </a:t>
            </a:r>
            <a:r>
              <a:rPr lang="pt-BR" sz="3200" b="1" dirty="0">
                <a:solidFill>
                  <a:srgbClr val="494949"/>
                </a:solidFill>
              </a:rPr>
              <a:t>escalabilidade</a:t>
            </a:r>
            <a:r>
              <a:rPr lang="pt-BR" sz="3200" dirty="0">
                <a:solidFill>
                  <a:srgbClr val="494949"/>
                </a:solidFill>
              </a:rPr>
              <a:t> de aplicações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Implantação e o dia seguinte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Altos custos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Times experientes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E8B6C46-7777-B053-6033-96AA3AF61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494837" y="2430462"/>
            <a:ext cx="2438400" cy="22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4010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Azure Container Apps: uma alternativa...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1262"/>
            <a:ext cx="7772399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Serviço gerenciado</a:t>
            </a:r>
            <a:r>
              <a:rPr lang="pt-BR" sz="3200" dirty="0">
                <a:solidFill>
                  <a:srgbClr val="494949"/>
                </a:solidFill>
              </a:rPr>
              <a:t> que descomplica o uso de </a:t>
            </a:r>
            <a:r>
              <a:rPr lang="pt-BR" sz="3200" b="1" dirty="0">
                <a:solidFill>
                  <a:srgbClr val="494949"/>
                </a:solidFill>
              </a:rPr>
              <a:t>containers</a:t>
            </a:r>
            <a:r>
              <a:rPr lang="pt-BR" sz="3200" dirty="0">
                <a:solidFill>
                  <a:srgbClr val="494949"/>
                </a:solidFill>
              </a:rPr>
              <a:t>, </a:t>
            </a:r>
            <a:r>
              <a:rPr lang="pt-BR" sz="3200" b="1" dirty="0" err="1">
                <a:solidFill>
                  <a:srgbClr val="494949"/>
                </a:solidFill>
              </a:rPr>
              <a:t>Kubernetes</a:t>
            </a:r>
            <a:r>
              <a:rPr lang="pt-BR" sz="3200" dirty="0">
                <a:solidFill>
                  <a:srgbClr val="494949"/>
                </a:solidFill>
              </a:rPr>
              <a:t> e alternativas </a:t>
            </a:r>
            <a:r>
              <a:rPr lang="pt-BR" sz="3200" b="1" dirty="0">
                <a:solidFill>
                  <a:srgbClr val="494949"/>
                </a:solidFill>
              </a:rPr>
              <a:t>cloud </a:t>
            </a:r>
            <a:r>
              <a:rPr lang="pt-BR" sz="3200" b="1" dirty="0" err="1">
                <a:solidFill>
                  <a:srgbClr val="494949"/>
                </a:solidFill>
              </a:rPr>
              <a:t>native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Custo menor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Escalabilidade</a:t>
            </a:r>
            <a:r>
              <a:rPr lang="pt-BR" sz="3200" dirty="0">
                <a:solidFill>
                  <a:srgbClr val="494949"/>
                </a:solidFill>
              </a:rPr>
              <a:t> facilitada com </a:t>
            </a:r>
            <a:r>
              <a:rPr lang="pt-BR" sz="3200" b="1" dirty="0">
                <a:solidFill>
                  <a:srgbClr val="494949"/>
                </a:solidFill>
              </a:rPr>
              <a:t>KEDA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DAPR + </a:t>
            </a:r>
            <a:r>
              <a:rPr lang="pt-BR" sz="3200" b="1" dirty="0" err="1">
                <a:solidFill>
                  <a:srgbClr val="494949"/>
                </a:solidFill>
              </a:rPr>
              <a:t>Microservices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Maiores facilidades para o </a:t>
            </a:r>
            <a:r>
              <a:rPr lang="pt-BR" sz="3200" b="1" dirty="0" err="1">
                <a:solidFill>
                  <a:srgbClr val="494949"/>
                </a:solidFill>
              </a:rPr>
              <a:t>deployment</a:t>
            </a:r>
            <a:r>
              <a:rPr lang="pt-BR" sz="3200" b="1" dirty="0">
                <a:solidFill>
                  <a:srgbClr val="494949"/>
                </a:solidFill>
              </a:rPr>
              <a:t> de Web Apps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Suporte também a </a:t>
            </a:r>
            <a:r>
              <a:rPr lang="pt-BR" sz="3200" b="1" dirty="0">
                <a:solidFill>
                  <a:srgbClr val="494949"/>
                </a:solidFill>
              </a:rPr>
              <a:t>Jobs</a:t>
            </a:r>
          </a:p>
        </p:txBody>
      </p:sp>
      <p:pic>
        <p:nvPicPr>
          <p:cNvPr id="7" name="Imagem 6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34C7DCA1-9075-198F-8A30-1F568BE5B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846" y="3970366"/>
            <a:ext cx="2061296" cy="206129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EABF279-5A8D-F860-4180-51A9C2A8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324460" y="1560603"/>
            <a:ext cx="1936659" cy="193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3803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3D1C-4F4A-E23F-FB5B-07115106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D0363-290F-E5E3-CF71-C2F7722F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AKS: o que pode pesar ainda a favor?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D1EDB9-989B-D05C-159F-AC308419B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2049462"/>
            <a:ext cx="8686799" cy="339785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Um </a:t>
            </a:r>
            <a:r>
              <a:rPr lang="pt-BR" sz="3600" b="1" dirty="0">
                <a:solidFill>
                  <a:srgbClr val="494949"/>
                </a:solidFill>
              </a:rPr>
              <a:t>maior controle</a:t>
            </a:r>
            <a:r>
              <a:rPr lang="pt-BR" sz="3600" dirty="0">
                <a:solidFill>
                  <a:srgbClr val="494949"/>
                </a:solidFill>
              </a:rPr>
              <a:t> em questões de infraestrutura e escalabilidade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Possibilidade de uso de incontáveis </a:t>
            </a:r>
            <a:r>
              <a:rPr lang="pt-BR" sz="3600" b="1" dirty="0">
                <a:solidFill>
                  <a:srgbClr val="494949"/>
                </a:solidFill>
              </a:rPr>
              <a:t>projetos open </a:t>
            </a:r>
            <a:r>
              <a:rPr lang="pt-BR" sz="3600" b="1" dirty="0" err="1">
                <a:solidFill>
                  <a:srgbClr val="494949"/>
                </a:solidFill>
              </a:rPr>
              <a:t>source</a:t>
            </a:r>
            <a:r>
              <a:rPr lang="pt-BR" sz="3600" dirty="0">
                <a:solidFill>
                  <a:srgbClr val="494949"/>
                </a:solidFill>
              </a:rPr>
              <a:t>, incluindo aqueles que integram o </a:t>
            </a:r>
            <a:r>
              <a:rPr lang="pt-BR" sz="3600" b="1" dirty="0">
                <a:solidFill>
                  <a:srgbClr val="494949"/>
                </a:solidFill>
              </a:rPr>
              <a:t>ecossistema CNCF</a:t>
            </a: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A5E798C-7EAD-B3B9-8852-F55189855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437" y="3954462"/>
            <a:ext cx="1869995" cy="186999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E798080-BCC2-C112-6898-505514151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5052" y="1605162"/>
            <a:ext cx="18383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470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96DF9-FE50-4C6B-3C13-B199AF24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001AC-B273-2068-CD6C-F5E4C8C6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AKS: o que pode pesar ainda a favor?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B24476-8F56-9A6C-65BD-D239EBB32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928209"/>
            <a:ext cx="8686799" cy="339785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Uma forma de se </a:t>
            </a:r>
            <a:r>
              <a:rPr lang="pt-BR" sz="3600" b="1" dirty="0">
                <a:solidFill>
                  <a:srgbClr val="494949"/>
                </a:solidFill>
              </a:rPr>
              <a:t>evitar </a:t>
            </a:r>
            <a:r>
              <a:rPr lang="pt-BR" sz="3600" b="1" dirty="0" err="1">
                <a:solidFill>
                  <a:srgbClr val="494949"/>
                </a:solidFill>
              </a:rPr>
              <a:t>lock</a:t>
            </a:r>
            <a:r>
              <a:rPr lang="pt-BR" sz="3600" b="1" dirty="0">
                <a:solidFill>
                  <a:srgbClr val="494949"/>
                </a:solidFill>
              </a:rPr>
              <a:t>-in</a:t>
            </a:r>
            <a:r>
              <a:rPr lang="pt-BR" sz="3600" dirty="0">
                <a:solidFill>
                  <a:srgbClr val="494949"/>
                </a:solidFill>
              </a:rPr>
              <a:t> com serviços gerenciados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 integração com </a:t>
            </a:r>
            <a:r>
              <a:rPr lang="pt-BR" sz="3600" b="1" dirty="0" err="1">
                <a:solidFill>
                  <a:srgbClr val="494949"/>
                </a:solidFill>
              </a:rPr>
              <a:t>Prometheus</a:t>
            </a:r>
            <a:r>
              <a:rPr lang="pt-BR" sz="3600" dirty="0">
                <a:solidFill>
                  <a:srgbClr val="494949"/>
                </a:solidFill>
              </a:rPr>
              <a:t> e </a:t>
            </a:r>
            <a:r>
              <a:rPr lang="pt-BR" sz="3600" b="1" dirty="0" err="1">
                <a:solidFill>
                  <a:srgbClr val="494949"/>
                </a:solidFill>
              </a:rPr>
              <a:t>Grafana</a:t>
            </a:r>
            <a:r>
              <a:rPr lang="pt-BR" sz="3600" b="1" dirty="0">
                <a:solidFill>
                  <a:srgbClr val="494949"/>
                </a:solidFill>
              </a:rPr>
              <a:t> </a:t>
            </a:r>
            <a:r>
              <a:rPr lang="pt-BR" sz="3600" dirty="0">
                <a:solidFill>
                  <a:srgbClr val="494949"/>
                </a:solidFill>
              </a:rPr>
              <a:t>traz mais opções em termos de </a:t>
            </a:r>
            <a:r>
              <a:rPr lang="pt-BR" sz="3600" b="1" dirty="0" err="1">
                <a:solidFill>
                  <a:srgbClr val="494949"/>
                </a:solidFill>
              </a:rPr>
              <a:t>Observabilidade</a:t>
            </a:r>
            <a:r>
              <a:rPr lang="pt-BR" sz="3600" b="1" dirty="0">
                <a:solidFill>
                  <a:srgbClr val="494949"/>
                </a:solidFill>
              </a:rPr>
              <a:t> </a:t>
            </a:r>
            <a:r>
              <a:rPr lang="pt-BR" sz="3600" dirty="0">
                <a:solidFill>
                  <a:srgbClr val="494949"/>
                </a:solidFill>
              </a:rPr>
              <a:t>e </a:t>
            </a:r>
            <a:r>
              <a:rPr lang="pt-BR" sz="3600" b="1" dirty="0">
                <a:solidFill>
                  <a:srgbClr val="494949"/>
                </a:solidFill>
              </a:rPr>
              <a:t>Monitoramento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FC5B2CC-087C-CA7E-16F0-B0FFB0CA7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5052" y="1605162"/>
            <a:ext cx="1838325" cy="18383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5266B1B-938A-6D4B-849F-14B802F2B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3871" y="4151658"/>
            <a:ext cx="1333773" cy="138712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889F5E3-DD19-AB1D-0B7D-31954D4F1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214" y="4117983"/>
            <a:ext cx="1406345" cy="138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599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projeto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KEDA: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Kubernetes</a:t>
            </a:r>
            <a:r>
              <a:rPr lang="pt-BR" sz="3200" b="1" dirty="0">
                <a:solidFill>
                  <a:srgbClr val="494949"/>
                </a:solidFill>
              </a:rPr>
              <a:t> Event-</a:t>
            </a:r>
            <a:r>
              <a:rPr lang="pt-BR" sz="3200" b="1" dirty="0" err="1">
                <a:solidFill>
                  <a:srgbClr val="494949"/>
                </a:solidFill>
              </a:rPr>
              <a:t>Driven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Autoscaling</a:t>
            </a:r>
            <a:br>
              <a:rPr lang="pt-BR" sz="3200" b="1" dirty="0">
                <a:solidFill>
                  <a:srgbClr val="494949"/>
                </a:solidFill>
              </a:rPr>
            </a:br>
            <a:r>
              <a:rPr lang="pt-BR" sz="3200" b="1" dirty="0">
                <a:solidFill>
                  <a:srgbClr val="494949"/>
                </a:solidFill>
                <a:hlinkClick r:id="rId3"/>
              </a:rPr>
              <a:t>https://keda.sh/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Escalabilidade horizontal</a:t>
            </a:r>
            <a:r>
              <a:rPr lang="pt-BR" sz="3200" dirty="0">
                <a:solidFill>
                  <a:srgbClr val="494949"/>
                </a:solidFill>
              </a:rPr>
              <a:t> de </a:t>
            </a:r>
            <a:r>
              <a:rPr lang="pt-BR" sz="3200" b="1" dirty="0">
                <a:solidFill>
                  <a:srgbClr val="494949"/>
                </a:solidFill>
              </a:rPr>
              <a:t>aplicações</a:t>
            </a:r>
            <a:r>
              <a:rPr lang="pt-BR" sz="3200" dirty="0">
                <a:solidFill>
                  <a:srgbClr val="494949"/>
                </a:solidFill>
              </a:rPr>
              <a:t> de forma descomplicada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Um projeto open </a:t>
            </a:r>
            <a:r>
              <a:rPr lang="pt-BR" sz="3200" dirty="0" err="1">
                <a:solidFill>
                  <a:srgbClr val="494949"/>
                </a:solidFill>
              </a:rPr>
              <a:t>source</a:t>
            </a:r>
            <a:r>
              <a:rPr lang="pt-BR" sz="3200" dirty="0">
                <a:solidFill>
                  <a:srgbClr val="494949"/>
                </a:solidFill>
              </a:rPr>
              <a:t> apoiado pela </a:t>
            </a:r>
            <a:r>
              <a:rPr lang="pt-BR" sz="3200" b="1" dirty="0">
                <a:solidFill>
                  <a:srgbClr val="494949"/>
                </a:solidFill>
              </a:rPr>
              <a:t>Cloud </a:t>
            </a:r>
            <a:r>
              <a:rPr lang="pt-BR" sz="3200" b="1" dirty="0" err="1">
                <a:solidFill>
                  <a:srgbClr val="494949"/>
                </a:solidFill>
              </a:rPr>
              <a:t>Native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Computing</a:t>
            </a:r>
            <a:r>
              <a:rPr lang="pt-BR" sz="3200" b="1" dirty="0">
                <a:solidFill>
                  <a:srgbClr val="494949"/>
                </a:solidFill>
              </a:rPr>
              <a:t> Foundation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Instalável via </a:t>
            </a:r>
            <a:r>
              <a:rPr lang="pt-BR" sz="3200" b="1" dirty="0" err="1">
                <a:solidFill>
                  <a:srgbClr val="494949"/>
                </a:solidFill>
              </a:rPr>
              <a:t>Helm</a:t>
            </a:r>
            <a:endParaRPr lang="pt-BR" sz="3200" b="1" dirty="0">
              <a:solidFill>
                <a:srgbClr val="494949"/>
              </a:solidFill>
            </a:endParaRPr>
          </a:p>
        </p:txBody>
      </p:sp>
      <p:pic>
        <p:nvPicPr>
          <p:cNvPr id="6" name="Imagem 5" descr="Ícone&#10;&#10;Descrição gerada automaticamente">
            <a:extLst>
              <a:ext uri="{FF2B5EF4-FFF2-40B4-BE49-F238E27FC236}">
                <a16:creationId xmlns:a16="http://schemas.microsoft.com/office/drawing/2014/main" id="{377B85E6-5D8F-4F72-98B8-3B4234FC0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437" y="2430462"/>
            <a:ext cx="2378359" cy="237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6489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projeto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KEDA: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535531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Uso do mecanismo conhecido como </a:t>
            </a:r>
            <a:r>
              <a:rPr lang="pt-BR" sz="2800" b="1" dirty="0">
                <a:solidFill>
                  <a:srgbClr val="494949"/>
                </a:solidFill>
              </a:rPr>
              <a:t>HPA (Horizontal </a:t>
            </a:r>
            <a:r>
              <a:rPr lang="pt-BR" sz="2800" b="1" dirty="0" err="1">
                <a:solidFill>
                  <a:srgbClr val="494949"/>
                </a:solidFill>
              </a:rPr>
              <a:t>Pod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Autoscaler</a:t>
            </a:r>
            <a:r>
              <a:rPr lang="pt-BR" sz="2800" b="1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</a:rPr>
              <a:t>Scalers</a:t>
            </a:r>
            <a:r>
              <a:rPr lang="pt-BR" sz="2800" dirty="0">
                <a:solidFill>
                  <a:srgbClr val="494949"/>
                </a:solidFill>
              </a:rPr>
              <a:t> permitem escalar aplicações que dependam de inúmeras tecnologias, através da utilização de alguma </a:t>
            </a:r>
            <a:r>
              <a:rPr lang="pt-BR" sz="2800" b="1" dirty="0">
                <a:solidFill>
                  <a:srgbClr val="494949"/>
                </a:solidFill>
              </a:rPr>
              <a:t>métrica</a:t>
            </a:r>
            <a:r>
              <a:rPr lang="pt-BR" sz="2800" dirty="0">
                <a:solidFill>
                  <a:srgbClr val="494949"/>
                </a:solidFill>
              </a:rPr>
              <a:t> suportada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Triggers</a:t>
            </a:r>
            <a:r>
              <a:rPr lang="pt-BR" sz="2800" dirty="0">
                <a:solidFill>
                  <a:srgbClr val="494949"/>
                </a:solidFill>
              </a:rPr>
              <a:t> para disparar o </a:t>
            </a:r>
            <a:r>
              <a:rPr lang="pt-BR" sz="2800" b="1" dirty="0" err="1">
                <a:solidFill>
                  <a:srgbClr val="494949"/>
                </a:solidFill>
              </a:rPr>
              <a:t>autoscaling</a:t>
            </a:r>
            <a:r>
              <a:rPr lang="pt-BR" sz="2800" dirty="0">
                <a:solidFill>
                  <a:srgbClr val="494949"/>
                </a:solidFill>
              </a:rPr>
              <a:t> de </a:t>
            </a:r>
            <a:r>
              <a:rPr lang="pt-BR" sz="2800" b="1" dirty="0" err="1">
                <a:solidFill>
                  <a:srgbClr val="494949"/>
                </a:solidFill>
              </a:rPr>
              <a:t>deployments</a:t>
            </a: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</a:rPr>
              <a:t>ScaledObject</a:t>
            </a:r>
            <a:r>
              <a:rPr lang="pt-BR" sz="2800" dirty="0">
                <a:solidFill>
                  <a:srgbClr val="494949"/>
                </a:solidFill>
              </a:rPr>
              <a:t>: estrutura com as </a:t>
            </a:r>
            <a:r>
              <a:rPr lang="pt-BR" sz="2800" b="1" dirty="0">
                <a:solidFill>
                  <a:srgbClr val="494949"/>
                </a:solidFill>
              </a:rPr>
              <a:t>regras + Trigger</a:t>
            </a:r>
            <a:r>
              <a:rPr lang="pt-BR" sz="2800" dirty="0">
                <a:solidFill>
                  <a:srgbClr val="494949"/>
                </a:solidFill>
              </a:rPr>
              <a:t> para efetuar o </a:t>
            </a:r>
            <a:r>
              <a:rPr lang="pt-BR" sz="2800" dirty="0" err="1">
                <a:solidFill>
                  <a:srgbClr val="494949"/>
                </a:solidFill>
              </a:rPr>
              <a:t>autoscaling</a:t>
            </a:r>
            <a:r>
              <a:rPr lang="pt-BR" sz="2800" dirty="0">
                <a:solidFill>
                  <a:srgbClr val="494949"/>
                </a:solidFill>
              </a:rPr>
              <a:t> de uma aplicação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6" name="Imagem 5" descr="Ícone&#10;&#10;Descrição gerada automaticamente">
            <a:extLst>
              <a:ext uri="{FF2B5EF4-FFF2-40B4-BE49-F238E27FC236}">
                <a16:creationId xmlns:a16="http://schemas.microsoft.com/office/drawing/2014/main" id="{377B85E6-5D8F-4F72-98B8-3B4234FC0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437" y="2430462"/>
            <a:ext cx="2378359" cy="237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120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E638-9F03-F327-28D6-8E59472A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69FE9-8088-30B2-2814-CE0F40A8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998ABD8-19B1-D937-C65D-9B645DC9A3F0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170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github.com/</a:t>
            </a:r>
            <a:r>
              <a:rPr lang="pt-BR" sz="2400" b="1" dirty="0" err="1">
                <a:solidFill>
                  <a:schemeClr val="bg1"/>
                </a:solidFill>
              </a:rPr>
              <a:t>renatogroffe</a:t>
            </a:r>
            <a:r>
              <a:rPr lang="pt-BR" sz="2400" b="1" dirty="0">
                <a:solidFill>
                  <a:schemeClr val="bg1"/>
                </a:solidFill>
              </a:rPr>
              <a:t>/aks-container-apps_globalazure-piracicaba-2026</a:t>
            </a:r>
            <a:endParaRPr lang="pt-BR" sz="2000" b="1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DE03DF8-7815-7040-5B80-241EEDD58C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5608637" y="4785618"/>
            <a:ext cx="1676400" cy="1575058"/>
          </a:xfrm>
          <a:prstGeom prst="rect">
            <a:avLst/>
          </a:prstGeom>
        </p:spPr>
      </p:pic>
      <p:pic>
        <p:nvPicPr>
          <p:cNvPr id="5" name="Imagem 3">
            <a:extLst>
              <a:ext uri="{FF2B5EF4-FFF2-40B4-BE49-F238E27FC236}">
                <a16:creationId xmlns:a16="http://schemas.microsoft.com/office/drawing/2014/main" id="{2A2B594C-4732-D6D0-60E8-6CA1F2D08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19509" y="4831684"/>
            <a:ext cx="1482925" cy="148292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EAAC368-5C1A-97BA-9A4E-9F9E88CF3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6454" y="4792662"/>
            <a:ext cx="1457711" cy="145771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43A37C6-9A39-4560-6F2E-6FA61F744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621" y="1081196"/>
            <a:ext cx="2434431" cy="2434431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DB6C3E0B-295D-BF8E-46A4-3C7B33D69A3F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741391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278062"/>
            <a:ext cx="4876800" cy="2179058"/>
          </a:xfrm>
        </p:spPr>
        <p:txBody>
          <a:bodyPr/>
          <a:lstStyle/>
          <a:p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9350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DBCFD-F9B5-101D-B074-D8A1189B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995F6CB8-6F8A-8D8D-4F6F-859B8396F9BF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1F5F66-7FDF-A171-4E3E-348597A2608D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DFFC8BA-B79C-475C-4597-F42220FEF45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1CD623-EF09-AA2B-6045-6B9D410BC5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B5B4E7F-737E-EC72-42F0-C5C1F0D8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680676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1023</TotalTime>
  <Words>915</Words>
  <Application>Microsoft Office PowerPoint</Application>
  <PresentationFormat>Personalizar</PresentationFormat>
  <Paragraphs>142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Arial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Aplicações containerizadas no Azure AKS ou Container Apps, qual a melhor solução?</vt:lpstr>
      <vt:lpstr>Participe de nossas iniciativas gratuitas</vt:lpstr>
      <vt:lpstr>Renato Groffe</vt:lpstr>
      <vt:lpstr>Conteúdos desta apresentação</vt:lpstr>
      <vt:lpstr>Agenda</vt:lpstr>
      <vt:lpstr>Como o Kubernetes pode ser útil?</vt:lpstr>
      <vt:lpstr>Azure Kubernetes Service (AKS)</vt:lpstr>
      <vt:lpstr>Clusters Kubernetes e complexidade</vt:lpstr>
      <vt:lpstr>Azure Container Apps: uma alternativa...</vt:lpstr>
      <vt:lpstr>AKS: o que pode pesar ainda a favor?</vt:lpstr>
      <vt:lpstr>AKS: o que pode pesar ainda a favor?</vt:lpstr>
      <vt:lpstr>O projeto KEDA: uma visão geral</vt:lpstr>
      <vt:lpstr>O projeto KEDA: uma visão geral</vt:lpstr>
      <vt:lpstr>Conteúdos desta apresentação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467</cp:revision>
  <dcterms:created xsi:type="dcterms:W3CDTF">2016-08-05T22:03:34Z</dcterms:created>
  <dcterms:modified xsi:type="dcterms:W3CDTF">2026-04-18T05:34:41Z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